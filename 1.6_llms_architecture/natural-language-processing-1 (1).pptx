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14" r:id="rId4"/>
    <p:sldId id="315" r:id="rId5"/>
    <p:sldId id="316" r:id="rId6"/>
    <p:sldId id="317" r:id="rId7"/>
    <p:sldId id="318" r:id="rId8"/>
    <p:sldId id="319" r:id="rId9"/>
    <p:sldId id="337" r:id="rId10"/>
    <p:sldId id="320" r:id="rId11"/>
    <p:sldId id="323" r:id="rId12"/>
    <p:sldId id="322" r:id="rId13"/>
    <p:sldId id="321" r:id="rId14"/>
    <p:sldId id="338" r:id="rId15"/>
    <p:sldId id="333" r:id="rId16"/>
    <p:sldId id="325" r:id="rId17"/>
    <p:sldId id="324" r:id="rId18"/>
    <p:sldId id="326" r:id="rId19"/>
    <p:sldId id="327" r:id="rId20"/>
    <p:sldId id="328" r:id="rId21"/>
    <p:sldId id="329" r:id="rId22"/>
    <p:sldId id="330" r:id="rId23"/>
    <p:sldId id="331" r:id="rId24"/>
    <p:sldId id="339" r:id="rId25"/>
    <p:sldId id="332" r:id="rId26"/>
    <p:sldId id="334" r:id="rId27"/>
    <p:sldId id="335" r:id="rId28"/>
    <p:sldId id="336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3F98"/>
    <a:srgbClr val="4A5253"/>
    <a:srgbClr val="DA9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0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B4BB-49AC-480C-9981-7EDFCC34E7A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Franklin Gothic Demi" panose="020B0703020102020204" pitchFamily="34" charset="0"/>
              </a:rPr>
              <a:t>MACHINE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7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atural </a:t>
            </a:r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L</a:t>
            </a:r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anguage</a:t>
            </a:r>
          </a:p>
          <a:p>
            <a:pPr algn="ctr"/>
            <a:r>
              <a:rPr lang="en-US" sz="80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Pro</a:t>
            </a:r>
            <a:r>
              <a:rPr lang="en-US" sz="80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cess!n</a:t>
            </a:r>
            <a:r>
              <a:rPr lang="en-US" sz="8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g</a:t>
            </a:r>
            <a:endParaRPr lang="en-US" sz="8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ML </a:t>
            </a:r>
            <a:r>
              <a:rPr lang="en-US" sz="4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models take only numbers as their inputs and output only numbers</a:t>
            </a:r>
          </a:p>
        </p:txBody>
      </p:sp>
    </p:spTree>
    <p:extLst>
      <p:ext uri="{BB962C8B-B14F-4D97-AF65-F5344CB8AC3E}">
        <p14:creationId xmlns:p14="http://schemas.microsoft.com/office/powerpoint/2010/main" val="160990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L</a:t>
            </a:r>
            <a:r>
              <a:rPr lang="en-US" sz="8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abel</a:t>
            </a:r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Encod</a:t>
            </a:r>
            <a:r>
              <a:rPr lang="en-US" sz="8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ng</a:t>
            </a:r>
            <a:endParaRPr lang="en-US" sz="80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82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87742"/>
            <a:ext cx="7771590" cy="193899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 Data processing technique used to convert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categorical values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into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labels.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51325" y="220418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label 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440918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95340"/>
              </p:ext>
            </p:extLst>
          </p:nvPr>
        </p:nvGraphicFramePr>
        <p:xfrm>
          <a:off x="3847568" y="1544597"/>
          <a:ext cx="2212941" cy="35352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941"/>
              </a:tblGrid>
              <a:tr h="66854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sunny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normal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cloudy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rainy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981459"/>
              </p:ext>
            </p:extLst>
          </p:nvPr>
        </p:nvGraphicFramePr>
        <p:xfrm>
          <a:off x="8813731" y="1496471"/>
          <a:ext cx="2212941" cy="358334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941"/>
              </a:tblGrid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6628598" y="3182099"/>
            <a:ext cx="1617044" cy="652025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7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87742"/>
            <a:ext cx="7771590" cy="193899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Label encoder will enforce </a:t>
            </a:r>
          </a:p>
          <a:p>
            <a:pPr algn="ctr"/>
            <a:r>
              <a:rPr lang="en-US" sz="4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un-</a:t>
            </a:r>
            <a:r>
              <a:rPr lang="en-US" sz="4000" b="1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necessery</a:t>
            </a:r>
            <a:r>
              <a:rPr lang="en-US" sz="40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order 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to nominal data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51325" y="220418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One Weak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P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51773" y="5091927"/>
            <a:ext cx="421786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Think about jersey numbers on players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66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284918"/>
            <a:ext cx="7771590" cy="2585323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When trying to convert </a:t>
            </a:r>
            <a:r>
              <a:rPr lang="en-US" sz="5400" b="1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nominal data </a:t>
            </a:r>
            <a:r>
              <a:rPr lang="en-US" sz="5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to numbers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60509" y="1568038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When to avoid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56034" y="5217789"/>
            <a:ext cx="6162172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They will think that categories with higher values are actually above others beneath it in the real-world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70176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98232" y="1443789"/>
            <a:ext cx="7392202" cy="86627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898233" y="1772862"/>
            <a:ext cx="7392202" cy="38472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600" b="1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 </a:t>
            </a:r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600" b="1" dirty="0" smtClean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sklearn.preprocessing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endParaRPr lang="en-US" sz="1600" b="1" dirty="0" smtClean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Sample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dataset</a:t>
            </a:r>
          </a:p>
          <a:p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({'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Target_Class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': ['Low', 'High', 'Medium', 'Low', 'High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']})</a:t>
            </a:r>
          </a:p>
          <a:p>
            <a:endParaRPr lang="en-US" sz="1600" b="1" dirty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2. Initialize the </a:t>
            </a:r>
            <a:r>
              <a:rPr lang="en-US" sz="1600" b="1" dirty="0" err="1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endParaRPr lang="en-US" sz="1600" b="1" dirty="0" smtClean="0">
              <a:ln w="0"/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 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b="1" dirty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3. Fit to the column and transform text to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integers</a:t>
            </a:r>
          </a:p>
          <a:p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Encoded_Class</a:t>
            </a:r>
            <a:r>
              <a:rPr lang="en-US" sz="1600" b="1" dirty="0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le.fit_transform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Target_Class</a:t>
            </a:r>
            <a:r>
              <a:rPr lang="en-US" sz="1600" b="1" dirty="0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b="1" dirty="0" err="1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 smtClean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 smtClean="0">
              <a:ln w="0"/>
              <a:solidFill>
                <a:schemeClr val="bg1">
                  <a:lumMod val="8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54366" y="1536831"/>
            <a:ext cx="545429" cy="151306"/>
            <a:chOff x="4235116" y="1575331"/>
            <a:chExt cx="545429" cy="151306"/>
          </a:xfrm>
        </p:grpSpPr>
        <p:sp>
          <p:nvSpPr>
            <p:cNvPr id="9" name="Oval 8"/>
            <p:cNvSpPr/>
            <p:nvPr/>
          </p:nvSpPr>
          <p:spPr>
            <a:xfrm>
              <a:off x="4235116" y="1578543"/>
              <a:ext cx="144379" cy="148094"/>
            </a:xfrm>
            <a:prstGeom prst="ellipse">
              <a:avLst/>
            </a:prstGeom>
            <a:solidFill>
              <a:srgbClr val="F13F9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435641" y="1576937"/>
              <a:ext cx="144379" cy="14809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636166" y="1575331"/>
              <a:ext cx="144379" cy="148094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31542" y="1434308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Label_encoder.py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73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ne-hot</a:t>
            </a:r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Encod</a:t>
            </a:r>
            <a:r>
              <a:rPr lang="en-US" sz="8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80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ng</a:t>
            </a:r>
            <a:endParaRPr lang="en-US" sz="80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87742"/>
            <a:ext cx="7771590" cy="193899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 Data processing technique used to convert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categorical values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into </a:t>
            </a:r>
            <a:r>
              <a:rPr lang="en-US" sz="4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numerical vectors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51325" y="2204185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one hot 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7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646029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676400"/>
              </p:ext>
            </p:extLst>
          </p:nvPr>
        </p:nvGraphicFramePr>
        <p:xfrm>
          <a:off x="3773238" y="1667236"/>
          <a:ext cx="2212941" cy="35352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2941"/>
              </a:tblGrid>
              <a:tr h="66854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weather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sunny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normal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cloudy</a:t>
                      </a:r>
                      <a:endParaRPr lang="en-US" dirty="0"/>
                    </a:p>
                  </a:txBody>
                  <a:tcPr/>
                </a:tc>
              </a:tr>
              <a:tr h="7166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rainy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55738"/>
              </p:ext>
            </p:extLst>
          </p:nvPr>
        </p:nvGraphicFramePr>
        <p:xfrm>
          <a:off x="6594930" y="1661390"/>
          <a:ext cx="4680692" cy="35410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70173"/>
                <a:gridCol w="1170173"/>
                <a:gridCol w="1170173"/>
                <a:gridCol w="1170173"/>
              </a:tblGrid>
              <a:tr h="830661">
                <a:tc>
                  <a:txBody>
                    <a:bodyPr/>
                    <a:lstStyle/>
                    <a:p>
                      <a:r>
                        <a:rPr lang="en-US" dirty="0" smtClean="0"/>
                        <a:t>Am</a:t>
                      </a:r>
                      <a:r>
                        <a:rPr lang="en-US" baseline="0" dirty="0" smtClean="0"/>
                        <a:t> I sunny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 I 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 I cloudy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 I  rainy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677601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5834590" y="3205213"/>
            <a:ext cx="898358" cy="652025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36134" y="5660895"/>
            <a:ext cx="63075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Number of new columns = number of unique categories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4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 you point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out one </a:t>
            </a:r>
            <a:r>
              <a:rPr lang="en-US" sz="6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weakness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of this approach?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6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898233" y="868986"/>
            <a:ext cx="7392202" cy="866274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898233" y="1207540"/>
            <a:ext cx="7392202" cy="53245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1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6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Create a sample dataset with a nominal categorical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columndata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= {'City': </a:t>
            </a:r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['Paris', 'New York', 'Tokyo', 'Paris', 'Tokyo</a:t>
            </a:r>
            <a:r>
              <a:rPr lang="en-US" sz="16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(data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2. Apply one-hot encoding and fix the dummy variable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trap</a:t>
            </a: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drop_first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=True' removes the very first category column (alphabetically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 changes the output from True/False </a:t>
            </a:r>
            <a:r>
              <a:rPr lang="en-US" sz="1600" b="1" dirty="0" err="1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booleans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to 1/0 </a:t>
            </a:r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integers</a:t>
            </a:r>
          </a:p>
          <a:p>
            <a:endParaRPr lang="en-US" sz="16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df_encoded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pd.get_dummies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, columns=[</a:t>
            </a:r>
            <a:r>
              <a:rPr lang="en-US" sz="16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'City'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drop_first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=True, 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sz="1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 smtClean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Print the resulting </a:t>
            </a:r>
            <a:r>
              <a:rPr lang="en-US" sz="1600" b="1" dirty="0" err="1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1600" b="1" dirty="0" smtClean="0">
              <a:ln w="0"/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df_encoded</a:t>
            </a:r>
            <a:r>
              <a:rPr lang="en-US" sz="1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79908" y="961260"/>
            <a:ext cx="545429" cy="151306"/>
            <a:chOff x="4235116" y="1575331"/>
            <a:chExt cx="545429" cy="151306"/>
          </a:xfrm>
        </p:grpSpPr>
        <p:sp>
          <p:nvSpPr>
            <p:cNvPr id="9" name="Oval 8"/>
            <p:cNvSpPr/>
            <p:nvPr/>
          </p:nvSpPr>
          <p:spPr>
            <a:xfrm>
              <a:off x="4235116" y="1578543"/>
              <a:ext cx="144379" cy="148094"/>
            </a:xfrm>
            <a:prstGeom prst="ellipse">
              <a:avLst/>
            </a:prstGeom>
            <a:solidFill>
              <a:srgbClr val="F13F9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435641" y="1576937"/>
              <a:ext cx="144379" cy="14809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636166" y="1575331"/>
              <a:ext cx="144379" cy="148094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483416" y="868986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One-hot_encoder.py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12589" y="5766153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7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91464" y="2087523"/>
            <a:ext cx="7891310" cy="353943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Uses vectors that store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more zeros than 1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i.e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sp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rc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ty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does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not scale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with number of categories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adds dimensions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to our model &gt;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</a:t>
            </a:r>
            <a:endParaRPr lang="en-US" b="1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32609" y="1165979"/>
            <a:ext cx="4009021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Limitations of one-hot-encoding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2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05001" y="2169075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How can we apply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one-hot encoding to a </a:t>
            </a:r>
            <a:r>
              <a:rPr lang="en-US" sz="60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message 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20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419217"/>
            <a:ext cx="77715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T</a:t>
            </a:r>
            <a:r>
              <a:rPr lang="en-US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erm</a:t>
            </a:r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d</a:t>
            </a:r>
            <a:r>
              <a:rPr lang="en-US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ocument</a:t>
            </a:r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i</a:t>
            </a:r>
            <a:r>
              <a:rPr lang="en-US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ncidence</a:t>
            </a:r>
            <a:r>
              <a:rPr lang="en-US" sz="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66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matr</a:t>
            </a:r>
            <a:r>
              <a:rPr lang="en-US" sz="66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!</a:t>
            </a:r>
            <a:r>
              <a:rPr lang="en-US" sz="66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x</a:t>
            </a:r>
            <a:endParaRPr lang="en-US" sz="66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04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86050" y="646131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27824"/>
              </p:ext>
            </p:extLst>
          </p:nvPr>
        </p:nvGraphicFramePr>
        <p:xfrm>
          <a:off x="4708672" y="3561834"/>
          <a:ext cx="5117712" cy="28617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9428"/>
                <a:gridCol w="1279428"/>
                <a:gridCol w="1279428"/>
                <a:gridCol w="1279428"/>
              </a:tblGrid>
              <a:tr h="448060">
                <a:tc>
                  <a:txBody>
                    <a:bodyPr/>
                    <a:lstStyle/>
                    <a:p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present 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see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64202" y="139566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am happy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64202" y="210915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He is not happy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64202" y="2778694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see happiness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 you point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out one </a:t>
            </a:r>
            <a:r>
              <a:rPr lang="en-US" sz="6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weakness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of this approach?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4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897135"/>
            <a:ext cx="77715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B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ag-</a:t>
            </a:r>
            <a:r>
              <a:rPr lang="en-US" sz="8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</a:t>
            </a:r>
            <a:r>
              <a:rPr lang="en-US" sz="8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</a:t>
            </a:r>
            <a:r>
              <a:rPr lang="en-US" sz="8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-</a:t>
            </a:r>
            <a:r>
              <a:rPr lang="en-US" sz="8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Words</a:t>
            </a:r>
            <a:endParaRPr lang="en-US" sz="80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65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97031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Converts text into </a:t>
            </a:r>
            <a:r>
              <a:rPr lang="en-US" sz="4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collection 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of </a:t>
            </a:r>
            <a:r>
              <a:rPr lang="en-US" sz="4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words </a:t>
            </a:r>
            <a:r>
              <a:rPr lang="en-US" sz="4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and count how often a word appear in text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it works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85235" y="5779686"/>
            <a:ext cx="4103769" cy="3693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erlin Sans FB Demi" panose="020E0802020502020306" pitchFamily="34" charset="0"/>
              </a:rPr>
              <a:t>Focuses on word frequency only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15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86050" y="646131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How does it work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859579"/>
              </p:ext>
            </p:extLst>
          </p:nvPr>
        </p:nvGraphicFramePr>
        <p:xfrm>
          <a:off x="4708672" y="3387024"/>
          <a:ext cx="5117712" cy="323197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9428"/>
                <a:gridCol w="1279428"/>
                <a:gridCol w="1279428"/>
                <a:gridCol w="1279428"/>
              </a:tblGrid>
              <a:tr h="448060">
                <a:tc>
                  <a:txBody>
                    <a:bodyPr/>
                    <a:lstStyle/>
                    <a:p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present 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see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64202" y="139566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am happy if everyone is happy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364202" y="2109152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He is not happy and he is hungry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64202" y="2778694"/>
            <a:ext cx="3596918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 see happiness ,then happiness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3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378565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 you point 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out one </a:t>
            </a:r>
            <a:r>
              <a:rPr lang="en-US" sz="6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weakness</a:t>
            </a:r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of this approach?</a:t>
            </a:r>
          </a:p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974206" y="868986"/>
            <a:ext cx="8691613" cy="866274"/>
            <a:chOff x="3898233" y="868986"/>
            <a:chExt cx="7392202" cy="866274"/>
          </a:xfrm>
        </p:grpSpPr>
        <p:sp>
          <p:nvSpPr>
            <p:cNvPr id="7" name="Rounded Rectangle 6"/>
            <p:cNvSpPr/>
            <p:nvPr/>
          </p:nvSpPr>
          <p:spPr>
            <a:xfrm>
              <a:off x="3898233" y="868986"/>
              <a:ext cx="7392202" cy="866274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279908" y="961260"/>
              <a:ext cx="545429" cy="151306"/>
              <a:chOff x="4235116" y="1575331"/>
              <a:chExt cx="545429" cy="151306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235116" y="1578543"/>
                <a:ext cx="144379" cy="148094"/>
              </a:xfrm>
              <a:prstGeom prst="ellipse">
                <a:avLst/>
              </a:prstGeom>
              <a:solidFill>
                <a:srgbClr val="F13F9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4435641" y="1576937"/>
                <a:ext cx="144379" cy="14809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636166" y="1575331"/>
                <a:ext cx="144379" cy="148094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6483416" y="868986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Bag-Of-Words.py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4206" y="1207540"/>
            <a:ext cx="8691613" cy="51398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sklearn.feature_extraction.text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Create a sample </a:t>
            </a:r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dataset with text reviews</a:t>
            </a:r>
          </a:p>
          <a:p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{‘reviews':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[‘the food is good',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'New food is terrible',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‘good food and good services']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(data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2. Initialize the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removes useless words like 'the' and 'and' to save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</a:p>
          <a:p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3. Fit and transform the text column </a:t>
            </a:r>
            <a:endParaRPr lang="en-US" sz="14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learns the unique vocabulary and counts the word occurrences </a:t>
            </a:r>
            <a:endParaRPr lang="en-US" sz="14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bow_matrix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vectorizer.fit_transform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Text_Reviews</a:t>
            </a:r>
            <a:r>
              <a:rPr lang="en-US" sz="1400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en-US" sz="1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4. Convert the matrix into a clean Pandas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vectorizer.get_feature_names_out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extracts the learned vocabulary as column names 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df_bow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bow_matrix</a:t>
            </a:r>
            <a:r>
              <a:rPr lang="en-US" sz="12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.toarray</a:t>
            </a:r>
            <a:r>
              <a:rPr lang="en-US" sz="1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columns=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</a:t>
            </a:r>
            <a:r>
              <a:rPr lang="en-US" sz="12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get_feature_names_out</a:t>
            </a:r>
            <a:r>
              <a:rPr lang="en-US" sz="12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print(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df_bow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99076" y="2419580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88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678256" y="2087523"/>
            <a:ext cx="7891310" cy="353943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Does not capture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semantic distance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between words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Does 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not preserve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word order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Inefficient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when it has mores zeros in the object(vector) .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ie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b="1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sparcity</a:t>
            </a:r>
            <a:endParaRPr lang="en-US" b="1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08747" y="1194855"/>
            <a:ext cx="325674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Limitations of BOW model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82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159915"/>
            <a:ext cx="77715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T</a:t>
            </a:r>
            <a:r>
              <a:rPr lang="en-US" sz="1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F-I</a:t>
            </a:r>
            <a:r>
              <a:rPr lang="en-US" sz="166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D</a:t>
            </a:r>
            <a:r>
              <a:rPr lang="en-US" sz="1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</a:t>
            </a:r>
            <a:endParaRPr lang="en-US" sz="166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99986" y="4806793"/>
            <a:ext cx="3874268" cy="52322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TERM FREQUENCY-INVERSE DOCUMENT FREQUENCY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4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91465" y="1348859"/>
            <a:ext cx="7891310" cy="501675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Document frequency(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df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: number of documents that contain a give word 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i.e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df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(w)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Inverse document frequency(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idf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: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number of docs ÷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df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i.e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  </a:t>
            </a:r>
            <a:endParaRPr lang="en-US" sz="32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Term frequency(td(</a:t>
            </a:r>
            <a:r>
              <a:rPr lang="en-US" sz="3200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w,d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: fraction of (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 in document  (</a:t>
            </a:r>
            <a:r>
              <a:rPr lang="en-US" sz="32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d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)</a:t>
            </a:r>
            <a:endParaRPr lang="en-US" b="1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31745" y="489764"/>
            <a:ext cx="325674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KEY DEFINATIONS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4771" y="4417714"/>
                <a:ext cx="6965681" cy="77687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idf(w)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1" i="0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8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 </m:t>
                        </m:r>
                        <m:f>
                          <m:fPr>
                            <m:ctrlP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𝒏𝒖𝒎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𝒐𝒇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𝒅𝒐𝒄𝒔</m:t>
                            </m:r>
                          </m:num>
                          <m:den>
                            <m:r>
                              <a:rPr lang="en-US" sz="2800" b="1" i="1" smtClean="0">
                                <a:ln w="0"/>
                                <a:solidFill>
                                  <a:schemeClr val="bg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𝒅𝒇</m:t>
                            </m:r>
                            <m:d>
                              <m:dPr>
                                <m:ctrlPr>
                                  <a:rPr lang="en-US" sz="2800" b="1" i="1" smtClean="0">
                                    <a:ln w="0"/>
                                    <a:solidFill>
                                      <a:schemeClr val="bg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 smtClean="0">
                                    <a:ln w="0"/>
                                    <a:solidFill>
                                      <a:schemeClr val="bg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den>
                        </m:f>
                        <m:r>
                          <a:rPr lang="en-US" sz="28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71" y="4417714"/>
                <a:ext cx="6965681" cy="776879"/>
              </a:xfrm>
              <a:prstGeom prst="rect">
                <a:avLst/>
              </a:prstGeom>
              <a:blipFill rotWithShape="0">
                <a:blip r:embed="rId4"/>
                <a:stretch>
                  <a:fillRect b="-6202"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Obtain </a:t>
            </a:r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tf-idf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66360" y="2547286"/>
                <a:ext cx="6941520" cy="2000548"/>
              </a:xfrm>
              <a:prstGeom prst="rect">
                <a:avLst/>
              </a:prstGeom>
              <a:solidFill>
                <a:schemeClr val="tx1"/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sz="2400" b="1" dirty="0" err="1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Tf-idf</a:t>
                </a:r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= </a:t>
                </a:r>
                <a:r>
                  <a:rPr lang="en-US" sz="2400" b="1" dirty="0" err="1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tf</a:t>
                </a:r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,d) * </a:t>
                </a:r>
                <a:r>
                  <a:rPr lang="en-US" sz="2400" b="1" dirty="0" err="1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idf</a:t>
                </a:r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</a:t>
                </a: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8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60" y="2547286"/>
                <a:ext cx="6941520" cy="20005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25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974206" y="868986"/>
            <a:ext cx="8691613" cy="866274"/>
            <a:chOff x="3898233" y="868986"/>
            <a:chExt cx="7392202" cy="866274"/>
          </a:xfrm>
        </p:grpSpPr>
        <p:sp>
          <p:nvSpPr>
            <p:cNvPr id="7" name="Rounded Rectangle 6"/>
            <p:cNvSpPr/>
            <p:nvPr/>
          </p:nvSpPr>
          <p:spPr>
            <a:xfrm>
              <a:off x="3898233" y="868986"/>
              <a:ext cx="7392202" cy="866274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279908" y="961260"/>
              <a:ext cx="545429" cy="151306"/>
              <a:chOff x="4235116" y="1575331"/>
              <a:chExt cx="545429" cy="151306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235116" y="1578543"/>
                <a:ext cx="144379" cy="148094"/>
              </a:xfrm>
              <a:prstGeom prst="ellipse">
                <a:avLst/>
              </a:prstGeom>
              <a:solidFill>
                <a:srgbClr val="F13F9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4435641" y="1576937"/>
                <a:ext cx="144379" cy="148094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636166" y="1575331"/>
                <a:ext cx="144379" cy="148094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6483416" y="868986"/>
            <a:ext cx="242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empus Sans ITC" panose="04020404030D07020202" pitchFamily="82" charset="0"/>
              </a:rPr>
              <a:t>Tf-idf.py</a:t>
            </a:r>
            <a:endParaRPr lang="en-US" sz="1600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4206" y="1207540"/>
            <a:ext cx="8691613" cy="501675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US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r>
              <a:rPr lang="en-US" sz="12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sklearn.feature_extraction.text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CountVectorizer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Create a sample </a:t>
            </a:r>
            <a:r>
              <a:rPr lang="en-US" sz="1200" b="1" dirty="0" smtClean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dataset with text reviews</a:t>
            </a:r>
          </a:p>
          <a:p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{‘reviews':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[‘the food is good',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'New food is terrible',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‘good food and good services']</a:t>
            </a:r>
          </a:p>
          <a:p>
            <a:r>
              <a:rPr lang="en-US" sz="12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smtClean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(data</a:t>
            </a:r>
            <a:r>
              <a:rPr lang="en-US" sz="12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b="1" dirty="0" smtClean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2. Initialize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tf-idf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removes useless words like 'the' and 'and' to save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memory</a:t>
            </a:r>
          </a:p>
          <a:p>
            <a:r>
              <a:rPr lang="en-US" sz="12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</a:t>
            </a:r>
            <a:r>
              <a:rPr lang="en-US" sz="12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tfidf_vectorizer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TfidfVectorizer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2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3. Fit and transform the text data 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calculates the TF (term frequency) and multiplies it by IDF (inverse document frequency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tfidf_matrix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vectorizer.fit_transform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 smtClean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‘reviews'</a:t>
            </a:r>
            <a:r>
              <a:rPr lang="en-US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endParaRPr lang="en-US" sz="1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4. Convert the resulting numerical matrix into a Pandas </a:t>
            </a:r>
            <a:r>
              <a:rPr lang="en-US" sz="1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vectorizer.get_feature_names_out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extracts the unique vocabulary for column </a:t>
            </a:r>
            <a:r>
              <a:rPr lang="en-US" sz="1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headers</a:t>
            </a:r>
          </a:p>
          <a:p>
            <a:endParaRPr lang="en-US" sz="1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df_tfidf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tfidf_matrix</a:t>
            </a:r>
            <a:r>
              <a:rPr lang="en-US" sz="10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.toarray</a:t>
            </a:r>
            <a:r>
              <a:rPr lang="en-US" sz="10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,columns=</a:t>
            </a:r>
            <a:r>
              <a:rPr lang="en-US" sz="10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tfidf_vectorizer</a:t>
            </a:r>
            <a:r>
              <a:rPr lang="en-US" sz="1000" b="1" dirty="0" err="1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.get_feature_names_out</a:t>
            </a:r>
            <a:r>
              <a:rPr lang="en-US" sz="10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0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299076" y="2419580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Implementation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99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159915"/>
            <a:ext cx="777159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W</a:t>
            </a:r>
            <a:r>
              <a:rPr lang="en-US" sz="8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ord </a:t>
            </a:r>
            <a:r>
              <a:rPr lang="en-US" sz="8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Emb</a:t>
            </a:r>
            <a:r>
              <a:rPr lang="en-US" sz="8800" dirty="0" err="1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edd!ng</a:t>
            </a:r>
            <a:r>
              <a:rPr lang="en-US" sz="8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s</a:t>
            </a:r>
            <a:endParaRPr lang="en-US" sz="88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1742" y="4960682"/>
            <a:ext cx="3874268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CAPTURING MEANING IN NUMBERS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46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312496" y="2265328"/>
            <a:ext cx="8249248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DISCUSSION POINT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66360" y="2547286"/>
            <a:ext cx="6941520" cy="2000548"/>
          </a:xfrm>
          <a:prstGeom prst="rect">
            <a:avLst/>
          </a:prstGeom>
          <a:solidFill>
            <a:schemeClr val="tx1"/>
          </a:solidFill>
          <a:ln w="762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BOY – HUT + PALACE = ? </a:t>
            </a:r>
          </a:p>
          <a:p>
            <a:pPr algn="ctr"/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endParaRPr lang="en-US" sz="28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628327" y="1934678"/>
            <a:ext cx="32826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a word embedding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28327" y="2772239"/>
            <a:ext cx="7771590" cy="2554545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 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representation of a word using </a:t>
            </a:r>
            <a:r>
              <a:rPr lang="en-US" sz="40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array of numbers 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that encodes the meaning of that word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1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662764" y="671111"/>
                <a:ext cx="7548712" cy="3170099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ü"/>
                </a:pPr>
                <a:endParaRPr lang="en-US" sz="2800" dirty="0" smtClean="0">
                  <a:ln w="0"/>
                  <a:solidFill>
                    <a:schemeClr val="bg2">
                      <a:lumMod val="1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Let the direction (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800" i="1" smtClean="0">
                            <a:ln w="0"/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 smtClean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be </a:t>
                </a:r>
                <a:r>
                  <a:rPr lang="en-US" sz="2800" dirty="0" smtClean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size</a:t>
                </a:r>
                <a:endParaRPr lang="en-US" sz="2800" dirty="0" smtClean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Let the direction (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800" i="1">
                            <a:ln w="0"/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be </a:t>
                </a:r>
                <a:r>
                  <a:rPr lang="en-US" sz="2800" dirty="0" smtClean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night-vision</a:t>
                </a: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Let the direction (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800" i="1">
                            <a:ln w="0"/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be </a:t>
                </a:r>
                <a:r>
                  <a:rPr lang="en-US" sz="2800" dirty="0" smtClean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home-height</a:t>
                </a: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Let the direction (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800" i="1">
                            <a:ln w="0"/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be </a:t>
                </a:r>
                <a:r>
                  <a:rPr lang="en-US" sz="2800" dirty="0" smtClean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life-span</a:t>
                </a:r>
                <a:endParaRPr lang="en-US" sz="280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Let the direction (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800" i="1">
                            <a:ln w="0"/>
                            <a:solidFill>
                              <a:schemeClr val="bg2">
                                <a:lumMod val="10000"/>
                              </a:schemeClr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n w="0"/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>
                    <a:ln w="0"/>
                    <a:solidFill>
                      <a:schemeClr val="bg2">
                        <a:lumMod val="1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be </a:t>
                </a:r>
                <a:r>
                  <a:rPr lang="en-US" sz="2800" dirty="0" smtClean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average-speed</a:t>
                </a:r>
                <a:endParaRPr lang="en-US" sz="280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endParaRPr lang="en-US" sz="320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764" y="671111"/>
                <a:ext cx="7548712" cy="3170099"/>
              </a:xfrm>
              <a:prstGeom prst="rect">
                <a:avLst/>
              </a:prstGeom>
              <a:blipFill rotWithShape="0">
                <a:blip r:embed="rId4"/>
                <a:stretch>
                  <a:fillRect l="-1283"/>
                </a:stretch>
              </a:blipFill>
              <a:ln w="571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662764" y="5543026"/>
            <a:ext cx="7548712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For words with similar, their vectors should be close to each other and words with opposite meaning their vectors should be opposite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62764" y="4512321"/>
            <a:ext cx="7548712" cy="58477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Lion = [</a:t>
            </a:r>
            <a:r>
              <a:rPr lang="en-US" sz="2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0.43,1,0,2,0.7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], eagle=[</a:t>
            </a:r>
            <a:r>
              <a:rPr lang="en-US" sz="24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0.2</a:t>
            </a:r>
            <a:r>
              <a:rPr lang="en-US" sz="32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,….]</a:t>
            </a:r>
            <a:endParaRPr lang="en-US" sz="32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7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082517" y="562121"/>
            <a:ext cx="67092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Embedding techniques </a:t>
            </a:r>
            <a:endParaRPr lang="en-US" sz="44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82517" y="1407622"/>
            <a:ext cx="3874268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Frequency count approach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82517" y="1734799"/>
            <a:ext cx="6709206" cy="1569660"/>
          </a:xfrm>
          <a:prstGeom prst="rect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One-hot encoding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Bag of words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err="1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Tf-idf</a:t>
            </a:r>
            <a:endParaRPr lang="en-US" sz="32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ootlight MT Light" panose="0204060206030A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82517" y="4072134"/>
            <a:ext cx="6709206" cy="1077218"/>
          </a:xfrm>
          <a:prstGeom prst="rect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word2vec</a:t>
            </a:r>
          </a:p>
          <a:p>
            <a:endParaRPr lang="en-US" sz="3200" dirty="0" smtClean="0">
              <a:ln w="0"/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ootlight MT Light" panose="0204060206030A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2517" y="3745503"/>
            <a:ext cx="3874268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Deep learning approach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60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51325" y="2705725"/>
            <a:ext cx="77715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w</a:t>
            </a:r>
            <a:r>
              <a:rPr lang="en-US" sz="8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ord</a:t>
            </a:r>
            <a:r>
              <a:rPr lang="en-US" sz="88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2</a:t>
            </a:r>
            <a:r>
              <a:rPr lang="en-US" sz="8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vec</a:t>
            </a:r>
            <a:endParaRPr lang="en-US" sz="88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1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628327" y="1934678"/>
            <a:ext cx="32826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What is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word2vec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28327" y="2772239"/>
            <a:ext cx="7771590" cy="2554545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NLP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techniques that uses a </a:t>
            </a:r>
            <a:r>
              <a:rPr lang="en-US" sz="4000" b="1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neural network 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to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40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learn word associations </a:t>
            </a:r>
            <a:r>
              <a:rPr lang="en-US" sz="4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from a large volume of text</a:t>
            </a:r>
            <a:endParaRPr lang="en-US" sz="40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64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91465" y="1348859"/>
            <a:ext cx="7891310" cy="304698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Uses sparse vectors :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store more of zeros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Can’t detect synonymous words</a:t>
            </a:r>
            <a:endParaRPr lang="en-US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Not scalable :</a:t>
            </a:r>
            <a:endParaRPr lang="en-US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60272" y="487144"/>
            <a:ext cx="576721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LIMITTIONS OF FREQUENCY COUNT APPROACH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45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13308"/>
              </p:ext>
            </p:extLst>
          </p:nvPr>
        </p:nvGraphicFramePr>
        <p:xfrm>
          <a:off x="4689419" y="1655545"/>
          <a:ext cx="6071624" cy="283854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7906"/>
                <a:gridCol w="1517906"/>
                <a:gridCol w="1517906"/>
                <a:gridCol w="1517906"/>
              </a:tblGrid>
              <a:tr h="616921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lioness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boy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respect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Night-vision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20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603540"/>
              </p:ext>
            </p:extLst>
          </p:nvPr>
        </p:nvGraphicFramePr>
        <p:xfrm>
          <a:off x="4401308" y="2897204"/>
          <a:ext cx="6071624" cy="28192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7906"/>
                <a:gridCol w="1517906"/>
                <a:gridCol w="1517906"/>
                <a:gridCol w="1517906"/>
              </a:tblGrid>
              <a:tr h="59767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lioness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boy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respect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happiness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Night-vision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271">
                <a:tc>
                  <a:txBody>
                    <a:bodyPr/>
                    <a:lstStyle/>
                    <a:p>
                      <a:r>
                        <a:rPr lang="en-US" dirty="0" smtClean="0"/>
                        <a:t>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15946" y="1033067"/>
            <a:ext cx="7891310" cy="169277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With word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2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vec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the neural network is train and it </a:t>
            </a:r>
            <a:r>
              <a:rPr lang="en-US" sz="36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learns the best numeral values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to fill the table below</a:t>
            </a:r>
          </a:p>
        </p:txBody>
      </p:sp>
    </p:spTree>
    <p:extLst>
      <p:ext uri="{BB962C8B-B14F-4D97-AF65-F5344CB8AC3E}">
        <p14:creationId xmlns:p14="http://schemas.microsoft.com/office/powerpoint/2010/main" val="100490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Cosine Similarities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966360" y="3508472"/>
                <a:ext cx="6941520" cy="2000548"/>
              </a:xfrm>
              <a:prstGeom prst="rect">
                <a:avLst/>
              </a:prstGeom>
              <a:solidFill>
                <a:schemeClr val="tx1"/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Similarity(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= 1 - cos(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</a:t>
                </a:r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8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60" y="3508472"/>
                <a:ext cx="6941520" cy="20005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5476776" y="1790299"/>
            <a:ext cx="4783755" cy="1246897"/>
            <a:chOff x="5948413" y="1684421"/>
            <a:chExt cx="4783755" cy="1246897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5948413" y="1684421"/>
              <a:ext cx="2865318" cy="11839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5948413" y="2784319"/>
              <a:ext cx="4783755" cy="8400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rc 12"/>
            <p:cNvSpPr/>
            <p:nvPr/>
          </p:nvSpPr>
          <p:spPr>
            <a:xfrm rot="1969214">
              <a:off x="6628454" y="2359890"/>
              <a:ext cx="500513" cy="571428"/>
            </a:xfrm>
            <a:prstGeom prst="arc">
              <a:avLst>
                <a:gd name="adj1" fmla="val 15966316"/>
                <a:gd name="adj2" fmla="val 829497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 rot="20102416">
            <a:off x="6620442" y="1914010"/>
            <a:ext cx="135890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erlin Sans FB Demi" panose="020E0802020502020306" pitchFamily="34" charset="0"/>
              </a:rPr>
              <a:t>redeem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68118" y="2406181"/>
            <a:ext cx="135890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Berlin Sans FB Demi" panose="020E0802020502020306" pitchFamily="34" charset="0"/>
              </a:rPr>
              <a:t>buy</a:t>
            </a:r>
            <a:endParaRPr lang="en-US" sz="32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44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119256" y="1918819"/>
            <a:ext cx="8249248" cy="144655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is a </a:t>
            </a:r>
            <a:r>
              <a:rPr lang="en-US" sz="2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number</a:t>
            </a:r>
            <a:r>
              <a:rPr lang="en-US" sz="2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that tells how similar 2 words are</a:t>
            </a:r>
            <a:endParaRPr lang="en-US" sz="16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Cosine Similarities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966360" y="3508472"/>
                <a:ext cx="6941520" cy="2000548"/>
              </a:xfrm>
              <a:prstGeom prst="rect">
                <a:avLst/>
              </a:prstGeom>
              <a:solidFill>
                <a:schemeClr val="tx1"/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Similarity(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= 1 - cos(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</a:t>
                </a:r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8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60" y="3508472"/>
                <a:ext cx="6941520" cy="20005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6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119256" y="1918819"/>
            <a:ext cx="8249248" cy="144655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it is a </a:t>
            </a:r>
            <a:r>
              <a:rPr lang="en-US" sz="2800" b="1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number</a:t>
            </a:r>
            <a:r>
              <a:rPr lang="en-US" sz="2800" dirty="0" smtClean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pitchFamily="66" charset="0"/>
              </a:rPr>
              <a:t> that tells how similar 2 words are</a:t>
            </a:r>
            <a:endParaRPr lang="en-US" sz="1600" dirty="0" smtClean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60509" y="1088977"/>
            <a:ext cx="27532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Cosine Similarities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966360" y="3508472"/>
                <a:ext cx="6941520" cy="2000548"/>
              </a:xfrm>
              <a:prstGeom prst="rect">
                <a:avLst/>
              </a:prstGeom>
              <a:solidFill>
                <a:schemeClr val="tx1"/>
              </a:solid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Similarity(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n w="0"/>
                            <a:solidFill>
                              <a:schemeClr val="bg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= 1 - cos(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b="1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mic Sans MS" panose="030F0702030302020204" pitchFamily="66" charset="0"/>
                  </a:rPr>
                  <a:t>) </a:t>
                </a:r>
                <a:endParaRPr lang="en-US" sz="24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4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ctr"/>
                <a:endParaRPr lang="en-US" sz="2800" b="1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360" y="3508472"/>
                <a:ext cx="6941520" cy="20005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762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7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One Hot Encoding</a:t>
            </a:r>
          </a:p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Term Doc Incidence Matrix</a:t>
            </a:r>
          </a:p>
          <a:p>
            <a:r>
              <a:rPr lang="en-US" sz="1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Bag Of Words</a:t>
            </a:r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TF-IDF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Word </a:t>
            </a:r>
            <a:r>
              <a:rPr lang="en-US" sz="1200" b="1" dirty="0" err="1">
                <a:solidFill>
                  <a:schemeClr val="bg2">
                    <a:lumMod val="50000"/>
                  </a:schemeClr>
                </a:solidFill>
              </a:rPr>
              <a:t>E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mbeddings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25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1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35822" y="2705725"/>
            <a:ext cx="77715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c</a:t>
            </a:r>
            <a:r>
              <a:rPr lang="en-US" sz="8800" b="1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B</a:t>
            </a:r>
            <a:r>
              <a:rPr lang="en-US" sz="8800" dirty="0" err="1" smtClean="0">
                <a:ln w="0"/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OW</a:t>
            </a:r>
            <a:endParaRPr lang="en-US" sz="8800" dirty="0" smtClean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28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31069</TotalTime>
  <Words>2550</Words>
  <Application>Microsoft Office PowerPoint</Application>
  <PresentationFormat>Widescreen</PresentationFormat>
  <Paragraphs>1633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Arial</vt:lpstr>
      <vt:lpstr>Bahnschrift</vt:lpstr>
      <vt:lpstr>Berlin Sans FB Demi</vt:lpstr>
      <vt:lpstr>Calibri</vt:lpstr>
      <vt:lpstr>Calibri Light</vt:lpstr>
      <vt:lpstr>Cambria Math</vt:lpstr>
      <vt:lpstr>Comic Sans MS</vt:lpstr>
      <vt:lpstr>Courier New</vt:lpstr>
      <vt:lpstr>Eras Bold ITC</vt:lpstr>
      <vt:lpstr>Footlight MT Light</vt:lpstr>
      <vt:lpstr>Franklin Gothic Demi</vt:lpstr>
      <vt:lpstr>Tempus Sans ITC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Microsoft account</cp:lastModifiedBy>
  <cp:revision>219</cp:revision>
  <dcterms:created xsi:type="dcterms:W3CDTF">2025-04-07T08:36:07Z</dcterms:created>
  <dcterms:modified xsi:type="dcterms:W3CDTF">2026-08-12T02:19:45Z</dcterms:modified>
</cp:coreProperties>
</file>